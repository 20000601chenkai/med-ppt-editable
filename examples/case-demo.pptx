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示例评分</c:v>
                </c:pt>
              </c:strCache>
            </c:strRef>
          </c:tx>
          <c:spPr>
            <a:ln w="25400">
              <a:solidFill>
                <a:srgbClr val="087E8B"/>
              </a:solidFill>
            </a:ln>
          </c:spPr>
          <c:marker>
            <c:symbol val="circle"/>
            <c:size val="6"/>
            <c:spPr>
              <a:solidFill>
                <a:srgbClr val="087E8B"/>
              </a:solidFill>
              <a:ln>
                <a:solidFill>
                  <a:srgbClr val="087E8B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第 0 周</c:v>
                </c:pt>
                <c:pt idx="1">
                  <c:v>第 2 周</c:v>
                </c:pt>
                <c:pt idx="2">
                  <c:v>第 4 周</c:v>
                </c:pt>
                <c:pt idx="3">
                  <c:v>第 8 周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16</c:v>
                </c:pt>
                <c:pt idx="3">
                  <c:v>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8B4B8"/>
            </a:solidFill>
          </a:ln>
        </c:spPr>
        <c:txPr>
          <a:bodyPr/>
          <a:lstStyle/>
          <a:p>
            <a:pPr>
              <a:defRPr sz="1400">
                <a:latin typeface="Microsoft YaHei"/>
                <a:ea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7620">
              <a:solidFill>
                <a:srgbClr val="DDE4E6"/>
              </a:solidFill>
            </a:ln>
          </c:spPr>
        </c:majorGridlines>
        <c:title>
          <c:tx>
            <c:rich>
              <a:bodyPr wrap="square" anchor="t">
                <a:noAutofit/>
              </a:bodyPr>
              <a:lstStyle/>
              <a:p>
                <a:pPr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defRPr>
                    <a:ea typeface="Microsoft YaHei"/>
                  </a:defRPr>
                </a:pPr>
                <a:r>
                  <a:rPr sz="1400" b="0">
                    <a:solidFill>
                      <a:srgbClr val="626D72"/>
                    </a:solidFill>
                    <a:latin typeface="Microsoft YaHei"/>
                    <a:ea typeface="Microsoft YaHei"/>
                  </a:rPr>
                  <a:t>示例评分（分）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A8B4B8"/>
            </a:solidFill>
          </a:ln>
        </c:spPr>
        <c:txPr>
          <a:bodyPr/>
          <a:lstStyle/>
          <a:p>
            <a:pPr>
              <a:defRPr sz="1400">
                <a:latin typeface="Microsoft YaHei"/>
                <a:ea typeface="Microsoft YaHe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400">
          <a:latin typeface="Microsoft YaHei"/>
          <a:ea typeface="Microsoft YaHe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[DEMO] 本样稿中的病例叙述、数值和时间线均为虚构演示，仅用于验证排版和对象编辑，不作为临床证据。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演示内容，不对应真实患者。诊断和治疗信息需要使用实际记录。</a:t>
            </a:r>
          </a:p>
          <a:p/>
          <a:p>
            <a:r>
              <a:t>[DEMO] 本样稿中的病例叙述、数值和时间线均为虚构演示，仅用于验证排版和对象编辑，不作为临床证据。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[DEMO] 本样稿中的病例叙述、数值和时间线均为虚构演示，仅用于验证排版和对象编辑，不作为临床证据。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[DEMO] 本样稿中的病例叙述、数值和时间线均为虚构演示，仅用于验证排版和对象编辑，不作为临床证据。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[DEMO] 本样稿中的病例叙述、数值和时间线均为虚构演示，仅用于验证排版和对象编辑，不作为临床证据。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[DEMO] 本样稿中的病例叙述、数值和时间线均为虚构演示，仅用于验证排版和对象编辑，不作为临床证据。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[DEMO] 本样稿中的病例叙述、数值和时间线均为虚构演示，仅用于验证排版和对象编辑，不作为临床证据。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ver--accent"/>
          <p:cNvSpPr/>
          <p:nvPr/>
        </p:nvSpPr>
        <p:spPr>
          <a:xfrm>
            <a:off x="594360" y="384048"/>
            <a:ext cx="594360" cy="54864"/>
          </a:xfrm>
          <a:prstGeom prst="rect">
            <a:avLst/>
          </a:prstGeom>
          <a:solidFill>
            <a:srgbClr val="087E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ver--title"/>
          <p:cNvSpPr txBox="1"/>
          <p:nvPr/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20282A"/>
                </a:solidFill>
                <a:latin typeface="Microsoft YaHei"/>
                <a:ea typeface="Microsoft YaHei"/>
              </a:rPr>
              <a:t>病例讨论与随访评估</a:t>
            </a:r>
          </a:p>
        </p:txBody>
      </p:sp>
      <p:sp>
        <p:nvSpPr>
          <p:cNvPr id="4" name="cover--subtitle"/>
          <p:cNvSpPr txBox="1"/>
          <p:nvPr/>
        </p:nvSpPr>
        <p:spPr>
          <a:xfrm>
            <a:off x="749808" y="34747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087E8B"/>
                </a:solidFill>
                <a:latin typeface="Microsoft YaHei"/>
                <a:ea typeface="Microsoft YaHei"/>
              </a:rPr>
              <a:t>临床资料 · 时间线 · 结果呈现</a:t>
            </a:r>
          </a:p>
        </p:txBody>
      </p:sp>
      <p:sp>
        <p:nvSpPr>
          <p:cNvPr id="5" name="cover--body"/>
          <p:cNvSpPr txBox="1"/>
          <p:nvPr/>
        </p:nvSpPr>
        <p:spPr>
          <a:xfrm>
            <a:off x="749808" y="457200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26D72"/>
                </a:solidFill>
                <a:latin typeface="Microsoft YaHei"/>
                <a:ea typeface="Microsoft YaHei"/>
              </a:rPr>
              <a:t>科室病例讨论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26D72"/>
                </a:solidFill>
                <a:latin typeface="Microsoft YaHei"/>
                <a:ea typeface="Microsoft YaHei"/>
              </a:rPr>
              <a:t>演示样稿 / 2026</a:t>
            </a:r>
          </a:p>
        </p:txBody>
      </p:sp>
      <p:sp>
        <p:nvSpPr>
          <p:cNvPr id="6" name="cover--cover-mark"/>
          <p:cNvSpPr/>
          <p:nvPr/>
        </p:nvSpPr>
        <p:spPr>
          <a:xfrm>
            <a:off x="10881360" y="804672"/>
            <a:ext cx="365760" cy="365760"/>
          </a:xfrm>
          <a:prstGeom prst="ellipse">
            <a:avLst/>
          </a:prstGeom>
          <a:solidFill>
            <a:srgbClr val="BA4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ver--footer"/>
          <p:cNvSpPr txBox="1"/>
          <p:nvPr/>
        </p:nvSpPr>
        <p:spPr>
          <a:xfrm>
            <a:off x="621792" y="6455664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A4058"/>
                </a:solidFill>
                <a:latin typeface="Microsoft YaHei"/>
                <a:ea typeface="Microsoft YaHei"/>
              </a:rPr>
              <a:t>演示数据 / 非临床证据</a:t>
            </a:r>
          </a:p>
        </p:txBody>
      </p:sp>
      <p:sp>
        <p:nvSpPr>
          <p:cNvPr id="8" name="cover--sources"/>
          <p:cNvSpPr txBox="1"/>
          <p:nvPr/>
        </p:nvSpPr>
        <p:spPr>
          <a:xfrm>
            <a:off x="7315200" y="6455664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26D72"/>
                </a:solidFill>
                <a:latin typeface="Microsoft YaHei"/>
                <a:ea typeface="Microsoft YaHei"/>
              </a:rPr>
              <a:t>DEMO</a:t>
            </a:r>
          </a:p>
        </p:txBody>
      </p:sp>
      <p:sp>
        <p:nvSpPr>
          <p:cNvPr id="9" name="cover--page"/>
          <p:cNvSpPr txBox="1"/>
          <p:nvPr/>
        </p:nvSpPr>
        <p:spPr>
          <a:xfrm>
            <a:off x="10881360" y="6437376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26D72"/>
                </a:solidFill>
                <a:latin typeface="Microsoft YaHei"/>
                <a:ea typeface="Microsoft YaHei"/>
              </a:rPr>
              <a:t>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ase-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se-summary--accent"/>
          <p:cNvSpPr/>
          <p:nvPr/>
        </p:nvSpPr>
        <p:spPr>
          <a:xfrm>
            <a:off x="594360" y="384048"/>
            <a:ext cx="594360" cy="54864"/>
          </a:xfrm>
          <a:prstGeom prst="rect">
            <a:avLst/>
          </a:prstGeom>
          <a:solidFill>
            <a:srgbClr val="087E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ase-summary--title"/>
          <p:cNvSpPr txBox="1"/>
          <p:nvPr/>
        </p:nvSpPr>
        <p:spPr>
          <a:xfrm>
            <a:off x="594360" y="621792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0282A"/>
                </a:solidFill>
                <a:latin typeface="Microsoft YaHei"/>
                <a:ea typeface="Microsoft YaHei"/>
              </a:rPr>
              <a:t>临床资料摘要</a:t>
            </a:r>
          </a:p>
        </p:txBody>
      </p:sp>
      <p:sp>
        <p:nvSpPr>
          <p:cNvPr id="4" name="case-summary--subtitle"/>
          <p:cNvSpPr txBox="1"/>
          <p:nvPr/>
        </p:nvSpPr>
        <p:spPr>
          <a:xfrm>
            <a:off x="621792" y="1371600"/>
            <a:ext cx="10927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6D72"/>
                </a:solidFill>
                <a:latin typeface="Microsoft YaHei"/>
                <a:ea typeface="Microsoft YaHei"/>
              </a:rPr>
              <a:t>围绕临床问题组织资料</a:t>
            </a:r>
          </a:p>
        </p:txBody>
      </p:sp>
      <p:sp>
        <p:nvSpPr>
          <p:cNvPr id="5" name="case-summary--number-0"/>
          <p:cNvSpPr txBox="1"/>
          <p:nvPr/>
        </p:nvSpPr>
        <p:spPr>
          <a:xfrm>
            <a:off x="640080" y="1965960"/>
            <a:ext cx="475488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E8B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6" name="case-summary--item-0"/>
          <p:cNvSpPr txBox="1"/>
          <p:nvPr/>
        </p:nvSpPr>
        <p:spPr>
          <a:xfrm>
            <a:off x="1280160" y="1938528"/>
            <a:ext cx="10058400" cy="758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0282A"/>
                </a:solidFill>
                <a:latin typeface="Microsoft YaHei"/>
                <a:ea typeface="Microsoft YaHei"/>
              </a:rPr>
              <a:t>主诉：皮肤表现持续 6 周（虚构示例）</a:t>
            </a:r>
          </a:p>
        </p:txBody>
      </p:sp>
      <p:sp>
        <p:nvSpPr>
          <p:cNvPr id="7" name="case-summary--number-1"/>
          <p:cNvSpPr txBox="1"/>
          <p:nvPr/>
        </p:nvSpPr>
        <p:spPr>
          <a:xfrm>
            <a:off x="640080" y="2816352"/>
            <a:ext cx="475488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E8B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8" name="case-summary--item-1"/>
          <p:cNvSpPr txBox="1"/>
          <p:nvPr/>
        </p:nvSpPr>
        <p:spPr>
          <a:xfrm>
            <a:off x="1280160" y="2788920"/>
            <a:ext cx="10058400" cy="758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0282A"/>
                </a:solidFill>
                <a:latin typeface="Microsoft YaHei"/>
                <a:ea typeface="Microsoft YaHei"/>
              </a:rPr>
              <a:t>病史：现病史、既往史与用药史分别记录</a:t>
            </a:r>
          </a:p>
        </p:txBody>
      </p:sp>
      <p:sp>
        <p:nvSpPr>
          <p:cNvPr id="9" name="case-summary--number-2"/>
          <p:cNvSpPr txBox="1"/>
          <p:nvPr/>
        </p:nvSpPr>
        <p:spPr>
          <a:xfrm>
            <a:off x="640080" y="3666744"/>
            <a:ext cx="475488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E8B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0" name="case-summary--item-2"/>
          <p:cNvSpPr txBox="1"/>
          <p:nvPr/>
        </p:nvSpPr>
        <p:spPr>
          <a:xfrm>
            <a:off x="1280160" y="3639312"/>
            <a:ext cx="10058400" cy="758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0282A"/>
                </a:solidFill>
                <a:latin typeface="Microsoft YaHei"/>
                <a:ea typeface="Microsoft YaHei"/>
              </a:rPr>
              <a:t>检查：区分已完成、未完成及结果待回报</a:t>
            </a:r>
          </a:p>
        </p:txBody>
      </p:sp>
      <p:sp>
        <p:nvSpPr>
          <p:cNvPr id="11" name="case-summary--number-3"/>
          <p:cNvSpPr txBox="1"/>
          <p:nvPr/>
        </p:nvSpPr>
        <p:spPr>
          <a:xfrm>
            <a:off x="640080" y="4517136"/>
            <a:ext cx="475488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E8B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12" name="case-summary--item-3"/>
          <p:cNvSpPr txBox="1"/>
          <p:nvPr/>
        </p:nvSpPr>
        <p:spPr>
          <a:xfrm>
            <a:off x="1280160" y="4489704"/>
            <a:ext cx="10058400" cy="758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0282A"/>
                </a:solidFill>
                <a:latin typeface="Microsoft YaHei"/>
                <a:ea typeface="Microsoft YaHei"/>
              </a:rPr>
              <a:t>讨论：根据已知证据列出鉴别诊断</a:t>
            </a:r>
          </a:p>
        </p:txBody>
      </p:sp>
      <p:sp>
        <p:nvSpPr>
          <p:cNvPr id="13" name="case-summary--number-4"/>
          <p:cNvSpPr txBox="1"/>
          <p:nvPr/>
        </p:nvSpPr>
        <p:spPr>
          <a:xfrm>
            <a:off x="640080" y="5367528"/>
            <a:ext cx="475488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E8B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14" name="case-summary--item-4"/>
          <p:cNvSpPr txBox="1"/>
          <p:nvPr/>
        </p:nvSpPr>
        <p:spPr>
          <a:xfrm>
            <a:off x="1280160" y="5340096"/>
            <a:ext cx="10058400" cy="758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0282A"/>
                </a:solidFill>
                <a:latin typeface="Microsoft YaHei"/>
                <a:ea typeface="Microsoft YaHei"/>
              </a:rPr>
              <a:t>资料缺失项保留“未提供”，不作推断</a:t>
            </a:r>
          </a:p>
        </p:txBody>
      </p:sp>
      <p:sp>
        <p:nvSpPr>
          <p:cNvPr id="15" name="case-summary--footer"/>
          <p:cNvSpPr txBox="1"/>
          <p:nvPr/>
        </p:nvSpPr>
        <p:spPr>
          <a:xfrm>
            <a:off x="621792" y="6455664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A4058"/>
                </a:solidFill>
                <a:latin typeface="Microsoft YaHei"/>
                <a:ea typeface="Microsoft YaHei"/>
              </a:rPr>
              <a:t>演示数据 / 非临床证据</a:t>
            </a:r>
          </a:p>
        </p:txBody>
      </p:sp>
      <p:sp>
        <p:nvSpPr>
          <p:cNvPr id="16" name="case-summary--sources"/>
          <p:cNvSpPr txBox="1"/>
          <p:nvPr/>
        </p:nvSpPr>
        <p:spPr>
          <a:xfrm>
            <a:off x="7315200" y="6455664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26D72"/>
                </a:solidFill>
                <a:latin typeface="Microsoft YaHei"/>
                <a:ea typeface="Microsoft YaHei"/>
              </a:rPr>
              <a:t>DEMO</a:t>
            </a:r>
          </a:p>
        </p:txBody>
      </p:sp>
      <p:sp>
        <p:nvSpPr>
          <p:cNvPr id="17" name="case-summary--page"/>
          <p:cNvSpPr txBox="1"/>
          <p:nvPr/>
        </p:nvSpPr>
        <p:spPr>
          <a:xfrm>
            <a:off x="10881360" y="6437376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26D72"/>
                </a:solidFill>
                <a:latin typeface="Microsoft YaHei"/>
                <a:ea typeface="Microsoft YaHei"/>
              </a:rP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imelin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meline--accent"/>
          <p:cNvSpPr/>
          <p:nvPr/>
        </p:nvSpPr>
        <p:spPr>
          <a:xfrm>
            <a:off x="594360" y="384048"/>
            <a:ext cx="594360" cy="54864"/>
          </a:xfrm>
          <a:prstGeom prst="rect">
            <a:avLst/>
          </a:prstGeom>
          <a:solidFill>
            <a:srgbClr val="087E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meline--title"/>
          <p:cNvSpPr txBox="1"/>
          <p:nvPr/>
        </p:nvSpPr>
        <p:spPr>
          <a:xfrm>
            <a:off x="594360" y="621792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0282A"/>
                </a:solidFill>
                <a:latin typeface="Microsoft YaHei"/>
                <a:ea typeface="Microsoft YaHei"/>
              </a:rPr>
              <a:t>随访时间线</a:t>
            </a:r>
          </a:p>
        </p:txBody>
      </p:sp>
      <p:sp>
        <p:nvSpPr>
          <p:cNvPr id="4" name="timeline--subtitle"/>
          <p:cNvSpPr txBox="1"/>
          <p:nvPr/>
        </p:nvSpPr>
        <p:spPr>
          <a:xfrm>
            <a:off x="621792" y="1371600"/>
            <a:ext cx="10927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6D72"/>
                </a:solidFill>
                <a:latin typeface="Microsoft YaHei"/>
                <a:ea typeface="Microsoft YaHei"/>
              </a:rPr>
              <a:t>同一观察对象，明确每次记录的时间点</a:t>
            </a:r>
          </a:p>
        </p:txBody>
      </p:sp>
      <p:cxnSp>
        <p:nvCxnSpPr>
          <p:cNvPr id="5" name="timeline--connector"/>
          <p:cNvCxnSpPr/>
          <p:nvPr/>
        </p:nvCxnSpPr>
        <p:spPr>
          <a:xfrm>
            <a:off x="777240" y="3063240"/>
            <a:ext cx="10469880" cy="0"/>
          </a:xfrm>
          <a:prstGeom prst="line">
            <a:avLst/>
          </a:prstGeom>
          <a:ln w="25400">
            <a:solidFill>
              <a:srgbClr val="087E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meline--event-label-0"/>
          <p:cNvSpPr txBox="1"/>
          <p:nvPr/>
        </p:nvSpPr>
        <p:spPr>
          <a:xfrm>
            <a:off x="685800" y="2194560"/>
            <a:ext cx="2542032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87E8B"/>
                </a:solidFill>
                <a:latin typeface="Microsoft YaHei"/>
                <a:ea typeface="Microsoft YaHei"/>
              </a:rPr>
              <a:t>第 0 周</a:t>
            </a:r>
          </a:p>
        </p:txBody>
      </p:sp>
      <p:sp>
        <p:nvSpPr>
          <p:cNvPr id="7" name="timeline--event-node-0"/>
          <p:cNvSpPr/>
          <p:nvPr/>
        </p:nvSpPr>
        <p:spPr>
          <a:xfrm>
            <a:off x="685800" y="2971800"/>
            <a:ext cx="182880" cy="182880"/>
          </a:xfrm>
          <a:prstGeom prst="ellipse">
            <a:avLst/>
          </a:prstGeom>
          <a:solidFill>
            <a:srgbClr val="087E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meline--event-text-0"/>
          <p:cNvSpPr txBox="1"/>
          <p:nvPr/>
        </p:nvSpPr>
        <p:spPr>
          <a:xfrm>
            <a:off x="685800" y="3566160"/>
            <a:ext cx="2514600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82A"/>
                </a:solidFill>
                <a:latin typeface="Microsoft YaHei"/>
                <a:ea typeface="Microsoft YaHei"/>
              </a:rPr>
              <a:t>首次资料整理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82A"/>
                </a:solidFill>
                <a:latin typeface="Microsoft YaHei"/>
                <a:ea typeface="Microsoft YaHei"/>
              </a:rPr>
              <a:t>记录基线信息</a:t>
            </a:r>
          </a:p>
        </p:txBody>
      </p:sp>
      <p:sp>
        <p:nvSpPr>
          <p:cNvPr id="9" name="timeline--event-label-1"/>
          <p:cNvSpPr txBox="1"/>
          <p:nvPr/>
        </p:nvSpPr>
        <p:spPr>
          <a:xfrm>
            <a:off x="3429000" y="2194560"/>
            <a:ext cx="2542032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87E8B"/>
                </a:solidFill>
                <a:latin typeface="Microsoft YaHei"/>
                <a:ea typeface="Microsoft YaHei"/>
              </a:rPr>
              <a:t>第 2 周</a:t>
            </a:r>
          </a:p>
        </p:txBody>
      </p:sp>
      <p:sp>
        <p:nvSpPr>
          <p:cNvPr id="10" name="timeline--event-node-1"/>
          <p:cNvSpPr/>
          <p:nvPr/>
        </p:nvSpPr>
        <p:spPr>
          <a:xfrm>
            <a:off x="3429000" y="2971800"/>
            <a:ext cx="182880" cy="182880"/>
          </a:xfrm>
          <a:prstGeom prst="ellipse">
            <a:avLst/>
          </a:prstGeom>
          <a:solidFill>
            <a:srgbClr val="087E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meline--event-text-1"/>
          <p:cNvSpPr txBox="1"/>
          <p:nvPr/>
        </p:nvSpPr>
        <p:spPr>
          <a:xfrm>
            <a:off x="3429000" y="3566160"/>
            <a:ext cx="2514600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82A"/>
                </a:solidFill>
                <a:latin typeface="Microsoft YaHei"/>
                <a:ea typeface="Microsoft YaHei"/>
              </a:rPr>
              <a:t>第一次随访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82A"/>
                </a:solidFill>
                <a:latin typeface="Microsoft YaHei"/>
                <a:ea typeface="Microsoft YaHei"/>
              </a:rPr>
              <a:t>核对检查结果</a:t>
            </a:r>
          </a:p>
        </p:txBody>
      </p:sp>
      <p:sp>
        <p:nvSpPr>
          <p:cNvPr id="12" name="timeline--event-label-2"/>
          <p:cNvSpPr txBox="1"/>
          <p:nvPr/>
        </p:nvSpPr>
        <p:spPr>
          <a:xfrm>
            <a:off x="6172200" y="2194560"/>
            <a:ext cx="2542032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87E8B"/>
                </a:solidFill>
                <a:latin typeface="Microsoft YaHei"/>
                <a:ea typeface="Microsoft YaHei"/>
              </a:rPr>
              <a:t>第 4 周</a:t>
            </a:r>
          </a:p>
        </p:txBody>
      </p:sp>
      <p:sp>
        <p:nvSpPr>
          <p:cNvPr id="13" name="timeline--event-node-2"/>
          <p:cNvSpPr/>
          <p:nvPr/>
        </p:nvSpPr>
        <p:spPr>
          <a:xfrm>
            <a:off x="6172200" y="2971800"/>
            <a:ext cx="182880" cy="182880"/>
          </a:xfrm>
          <a:prstGeom prst="ellipse">
            <a:avLst/>
          </a:prstGeom>
          <a:solidFill>
            <a:srgbClr val="087E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imeline--event-text-2"/>
          <p:cNvSpPr txBox="1"/>
          <p:nvPr/>
        </p:nvSpPr>
        <p:spPr>
          <a:xfrm>
            <a:off x="6172200" y="3566160"/>
            <a:ext cx="2514600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82A"/>
                </a:solidFill>
                <a:latin typeface="Microsoft YaHei"/>
                <a:ea typeface="Microsoft YaHei"/>
              </a:rPr>
              <a:t>第二次随访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82A"/>
                </a:solidFill>
                <a:latin typeface="Microsoft YaHei"/>
                <a:ea typeface="Microsoft YaHei"/>
              </a:rPr>
              <a:t>记录观察变化</a:t>
            </a:r>
          </a:p>
        </p:txBody>
      </p:sp>
      <p:sp>
        <p:nvSpPr>
          <p:cNvPr id="15" name="timeline--event-label-3"/>
          <p:cNvSpPr txBox="1"/>
          <p:nvPr/>
        </p:nvSpPr>
        <p:spPr>
          <a:xfrm>
            <a:off x="8915400" y="2194560"/>
            <a:ext cx="2542032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87E8B"/>
                </a:solidFill>
                <a:latin typeface="Microsoft YaHei"/>
                <a:ea typeface="Microsoft YaHei"/>
              </a:rPr>
              <a:t>第 8 周</a:t>
            </a:r>
          </a:p>
        </p:txBody>
      </p:sp>
      <p:sp>
        <p:nvSpPr>
          <p:cNvPr id="16" name="timeline--event-node-3"/>
          <p:cNvSpPr/>
          <p:nvPr/>
        </p:nvSpPr>
        <p:spPr>
          <a:xfrm>
            <a:off x="8915400" y="2971800"/>
            <a:ext cx="182880" cy="182880"/>
          </a:xfrm>
          <a:prstGeom prst="ellipse">
            <a:avLst/>
          </a:prstGeom>
          <a:solidFill>
            <a:srgbClr val="087E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meline--event-text-3"/>
          <p:cNvSpPr txBox="1"/>
          <p:nvPr/>
        </p:nvSpPr>
        <p:spPr>
          <a:xfrm>
            <a:off x="8915400" y="3566160"/>
            <a:ext cx="2514600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82A"/>
                </a:solidFill>
                <a:latin typeface="Microsoft YaHei"/>
                <a:ea typeface="Microsoft YaHei"/>
              </a:rPr>
              <a:t>阶段性整理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82A"/>
                </a:solidFill>
                <a:latin typeface="Microsoft YaHei"/>
                <a:ea typeface="Microsoft YaHei"/>
              </a:rPr>
              <a:t>总结资料缺口</a:t>
            </a:r>
          </a:p>
        </p:txBody>
      </p:sp>
      <p:sp>
        <p:nvSpPr>
          <p:cNvPr id="18" name="timeline--footer"/>
          <p:cNvSpPr txBox="1"/>
          <p:nvPr/>
        </p:nvSpPr>
        <p:spPr>
          <a:xfrm>
            <a:off x="621792" y="6455664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A4058"/>
                </a:solidFill>
                <a:latin typeface="Microsoft YaHei"/>
                <a:ea typeface="Microsoft YaHei"/>
              </a:rPr>
              <a:t>演示数据 / 非临床证据</a:t>
            </a:r>
          </a:p>
        </p:txBody>
      </p:sp>
      <p:sp>
        <p:nvSpPr>
          <p:cNvPr id="19" name="timeline--sources"/>
          <p:cNvSpPr txBox="1"/>
          <p:nvPr/>
        </p:nvSpPr>
        <p:spPr>
          <a:xfrm>
            <a:off x="7315200" y="6455664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26D72"/>
                </a:solidFill>
                <a:latin typeface="Microsoft YaHei"/>
                <a:ea typeface="Microsoft YaHei"/>
              </a:rPr>
              <a:t>DEMO</a:t>
            </a:r>
          </a:p>
        </p:txBody>
      </p:sp>
      <p:sp>
        <p:nvSpPr>
          <p:cNvPr id="20" name="timeline--page"/>
          <p:cNvSpPr txBox="1"/>
          <p:nvPr/>
        </p:nvSpPr>
        <p:spPr>
          <a:xfrm>
            <a:off x="10881360" y="6437376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26D72"/>
                </a:solidFill>
                <a:latin typeface="Microsoft YaHei"/>
                <a:ea typeface="Microsoft YaHei"/>
              </a:rP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observation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servations--accent"/>
          <p:cNvSpPr/>
          <p:nvPr/>
        </p:nvSpPr>
        <p:spPr>
          <a:xfrm>
            <a:off x="594360" y="384048"/>
            <a:ext cx="594360" cy="54864"/>
          </a:xfrm>
          <a:prstGeom prst="rect">
            <a:avLst/>
          </a:prstGeom>
          <a:solidFill>
            <a:srgbClr val="087E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bservations--title"/>
          <p:cNvSpPr txBox="1"/>
          <p:nvPr/>
        </p:nvSpPr>
        <p:spPr>
          <a:xfrm>
            <a:off x="594360" y="621792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0282A"/>
                </a:solidFill>
                <a:latin typeface="Microsoft YaHei"/>
                <a:ea typeface="Microsoft YaHei"/>
              </a:rPr>
              <a:t>随访观察记录</a:t>
            </a:r>
          </a:p>
        </p:txBody>
      </p:sp>
      <p:sp>
        <p:nvSpPr>
          <p:cNvPr id="4" name="observations--subtitle"/>
          <p:cNvSpPr txBox="1"/>
          <p:nvPr/>
        </p:nvSpPr>
        <p:spPr>
          <a:xfrm>
            <a:off x="621792" y="1371600"/>
            <a:ext cx="10927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6D72"/>
                </a:solidFill>
                <a:latin typeface="Microsoft YaHei"/>
                <a:ea typeface="Microsoft YaHei"/>
              </a:rPr>
              <a:t>表格保留单元格结构；数值均为虚构演示</a:t>
            </a:r>
          </a:p>
        </p:txBody>
      </p:sp>
      <p:graphicFrame>
        <p:nvGraphicFramePr>
          <p:cNvPr id="5" name="observations--table"/>
          <p:cNvGraphicFramePr>
            <a:graphicFrameLocks noGrp="1"/>
          </p:cNvGraphicFramePr>
          <p:nvPr/>
        </p:nvGraphicFramePr>
        <p:xfrm>
          <a:off x="594360" y="1965960"/>
          <a:ext cx="1097280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94360">
                <a:tc>
                  <a:txBody>
                    <a:bodyPr wrap="square" anchor="t">
                      <a:noAutofit/>
                    </a:bodyPr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时间点</a:t>
                      </a:r>
                    </a:p>
                  </a:txBody>
                  <a:tcPr marL="91440" marR="91440" marT="64008" marB="64008">
                    <a:solidFill>
                      <a:srgbClr val="087E8B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示例评分（分）</a:t>
                      </a:r>
                    </a:p>
                  </a:txBody>
                  <a:tcPr marL="91440" marR="91440" marT="64008" marB="64008">
                    <a:solidFill>
                      <a:srgbClr val="087E8B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记录状态</a:t>
                      </a:r>
                    </a:p>
                  </a:txBody>
                  <a:tcPr marL="91440" marR="91440" marT="64008" marB="64008">
                    <a:solidFill>
                      <a:srgbClr val="087E8B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备注</a:t>
                      </a:r>
                    </a:p>
                  </a:txBody>
                  <a:tcPr marL="91440" marR="91440" marT="64008" marB="64008">
                    <a:solidFill>
                      <a:srgbClr val="087E8B"/>
                    </a:solidFill>
                  </a:tcPr>
                </a:tc>
              </a:tr>
              <a:tr h="594360">
                <a:tc>
                  <a:txBody>
                    <a:bodyPr wrap="square" anchor="t">
                      <a:noAutofit/>
                    </a:bodyPr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282A"/>
                          </a:solidFill>
                          <a:latin typeface="Microsoft YaHei"/>
                          <a:ea typeface="Microsoft YaHei"/>
                        </a:rPr>
                        <a:t>第 0 周</a:t>
                      </a:r>
                    </a:p>
                  </a:txBody>
                  <a:tcPr marL="91440" marR="91440" marT="64008" marB="64008">
                    <a:solidFill>
                      <a:srgbClr val="F0F4F4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282A"/>
                          </a:solidFill>
                          <a:latin typeface="Microsoft YaHei"/>
                          <a:ea typeface="Microsoft YaHei"/>
                        </a:rPr>
                        <a:t>20</a:t>
                      </a:r>
                    </a:p>
                  </a:txBody>
                  <a:tcPr marL="91440" marR="91440" marT="64008" marB="64008">
                    <a:solidFill>
                      <a:srgbClr val="F0F4F4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282A"/>
                          </a:solidFill>
                          <a:latin typeface="Microsoft YaHei"/>
                          <a:ea typeface="Microsoft YaHei"/>
                        </a:rPr>
                        <a:t>已记录</a:t>
                      </a:r>
                    </a:p>
                  </a:txBody>
                  <a:tcPr marL="91440" marR="91440" marT="64008" marB="64008">
                    <a:solidFill>
                      <a:srgbClr val="F0F4F4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282A"/>
                          </a:solidFill>
                          <a:latin typeface="Microsoft YaHei"/>
                          <a:ea typeface="Microsoft YaHei"/>
                        </a:rPr>
                        <a:t>基线</a:t>
                      </a:r>
                    </a:p>
                  </a:txBody>
                  <a:tcPr marL="91440" marR="91440" marT="64008" marB="64008">
                    <a:solidFill>
                      <a:srgbClr val="F0F4F4"/>
                    </a:solidFill>
                  </a:tcPr>
                </a:tc>
              </a:tr>
              <a:tr h="594360">
                <a:tc>
                  <a:txBody>
                    <a:bodyPr wrap="square" anchor="t">
                      <a:noAutofit/>
                    </a:bodyPr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282A"/>
                          </a:solidFill>
                          <a:latin typeface="Microsoft YaHei"/>
                          <a:ea typeface="Microsoft YaHei"/>
                        </a:rPr>
                        <a:t>第 2 周</a:t>
                      </a:r>
                    </a:p>
                  </a:txBody>
                  <a:tcPr marL="91440" marR="91440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282A"/>
                          </a:solidFill>
                          <a:latin typeface="Microsoft YaHei"/>
                          <a:ea typeface="Microsoft YaHei"/>
                        </a:rPr>
                        <a:t>16</a:t>
                      </a:r>
                    </a:p>
                  </a:txBody>
                  <a:tcPr marL="91440" marR="91440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282A"/>
                          </a:solidFill>
                          <a:latin typeface="Microsoft YaHei"/>
                          <a:ea typeface="Microsoft YaHei"/>
                        </a:rPr>
                        <a:t>已记录</a:t>
                      </a:r>
                    </a:p>
                  </a:txBody>
                  <a:tcPr marL="91440" marR="91440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282A"/>
                          </a:solidFill>
                          <a:latin typeface="Microsoft YaHei"/>
                          <a:ea typeface="Microsoft YaHei"/>
                        </a:rPr>
                        <a:t>随访</a:t>
                      </a:r>
                    </a:p>
                  </a:txBody>
                  <a:tcPr marL="91440" marR="91440" marT="64008" marB="6400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 anchor="t">
                      <a:noAutofit/>
                    </a:bodyPr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282A"/>
                          </a:solidFill>
                          <a:latin typeface="Microsoft YaHei"/>
                          <a:ea typeface="Microsoft YaHei"/>
                        </a:rPr>
                        <a:t>第 4 周</a:t>
                      </a:r>
                    </a:p>
                  </a:txBody>
                  <a:tcPr marL="91440" marR="91440" marT="64008" marB="64008">
                    <a:solidFill>
                      <a:srgbClr val="F0F4F4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282A"/>
                          </a:solidFill>
                          <a:latin typeface="Microsoft YaHei"/>
                          <a:ea typeface="Microsoft YaHei"/>
                        </a:rPr>
                        <a:t>未提供</a:t>
                      </a:r>
                    </a:p>
                  </a:txBody>
                  <a:tcPr marL="91440" marR="91440" marT="64008" marB="64008">
                    <a:solidFill>
                      <a:srgbClr val="F0F4F4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282A"/>
                          </a:solidFill>
                          <a:latin typeface="Microsoft YaHei"/>
                          <a:ea typeface="Microsoft YaHei"/>
                        </a:rPr>
                        <a:t>数据缺失</a:t>
                      </a:r>
                    </a:p>
                  </a:txBody>
                  <a:tcPr marL="91440" marR="91440" marT="64008" marB="64008">
                    <a:solidFill>
                      <a:srgbClr val="F0F4F4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282A"/>
                          </a:solidFill>
                          <a:latin typeface="Microsoft YaHei"/>
                          <a:ea typeface="Microsoft YaHei"/>
                        </a:rPr>
                        <a:t>不按 0 处理</a:t>
                      </a:r>
                    </a:p>
                  </a:txBody>
                  <a:tcPr marL="91440" marR="91440" marT="64008" marB="64008">
                    <a:solidFill>
                      <a:srgbClr val="F0F4F4"/>
                    </a:solidFill>
                  </a:tcPr>
                </a:tc>
              </a:tr>
              <a:tr h="594360">
                <a:tc>
                  <a:txBody>
                    <a:bodyPr wrap="square" anchor="t">
                      <a:noAutofit/>
                    </a:bodyPr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282A"/>
                          </a:solidFill>
                          <a:latin typeface="Microsoft YaHei"/>
                          <a:ea typeface="Microsoft YaHei"/>
                        </a:rPr>
                        <a:t>第 8 周</a:t>
                      </a:r>
                    </a:p>
                  </a:txBody>
                  <a:tcPr marL="91440" marR="91440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282A"/>
                          </a:solidFill>
                          <a:latin typeface="Microsoft YaHei"/>
                          <a:ea typeface="Microsoft YaHei"/>
                        </a:rPr>
                        <a:t>9</a:t>
                      </a:r>
                    </a:p>
                  </a:txBody>
                  <a:tcPr marL="91440" marR="91440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282A"/>
                          </a:solidFill>
                          <a:latin typeface="Microsoft YaHei"/>
                          <a:ea typeface="Microsoft YaHei"/>
                        </a:rPr>
                        <a:t>已记录</a:t>
                      </a:r>
                    </a:p>
                  </a:txBody>
                  <a:tcPr marL="91440" marR="91440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282A"/>
                          </a:solidFill>
                          <a:latin typeface="Microsoft YaHei"/>
                          <a:ea typeface="Microsoft YaHei"/>
                        </a:rPr>
                        <a:t>阶段记录</a:t>
                      </a:r>
                    </a:p>
                  </a:txBody>
                  <a:tcPr marL="91440" marR="91440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observations--footer"/>
          <p:cNvSpPr txBox="1"/>
          <p:nvPr/>
        </p:nvSpPr>
        <p:spPr>
          <a:xfrm>
            <a:off x="621792" y="6455664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A4058"/>
                </a:solidFill>
                <a:latin typeface="Microsoft YaHei"/>
                <a:ea typeface="Microsoft YaHei"/>
              </a:rPr>
              <a:t>演示数据 / 非临床证据</a:t>
            </a:r>
          </a:p>
        </p:txBody>
      </p:sp>
      <p:sp>
        <p:nvSpPr>
          <p:cNvPr id="7" name="observations--sources"/>
          <p:cNvSpPr txBox="1"/>
          <p:nvPr/>
        </p:nvSpPr>
        <p:spPr>
          <a:xfrm>
            <a:off x="7315200" y="6455664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26D72"/>
                </a:solidFill>
                <a:latin typeface="Microsoft YaHei"/>
                <a:ea typeface="Microsoft YaHei"/>
              </a:rPr>
              <a:t>DEMO</a:t>
            </a:r>
          </a:p>
        </p:txBody>
      </p:sp>
      <p:sp>
        <p:nvSpPr>
          <p:cNvPr id="8" name="observations--page"/>
          <p:cNvSpPr txBox="1"/>
          <p:nvPr/>
        </p:nvSpPr>
        <p:spPr>
          <a:xfrm>
            <a:off x="10881360" y="6437376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26D72"/>
                </a:solidFill>
                <a:latin typeface="Microsoft YaHei"/>
                <a:ea typeface="Microsoft YaHei"/>
              </a:rP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r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rend--accent"/>
          <p:cNvSpPr/>
          <p:nvPr/>
        </p:nvSpPr>
        <p:spPr>
          <a:xfrm>
            <a:off x="594360" y="384048"/>
            <a:ext cx="594360" cy="54864"/>
          </a:xfrm>
          <a:prstGeom prst="rect">
            <a:avLst/>
          </a:prstGeom>
          <a:solidFill>
            <a:srgbClr val="087E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rend--title"/>
          <p:cNvSpPr txBox="1"/>
          <p:nvPr/>
        </p:nvSpPr>
        <p:spPr>
          <a:xfrm>
            <a:off x="594360" y="621792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0282A"/>
                </a:solidFill>
                <a:latin typeface="Microsoft YaHei"/>
                <a:ea typeface="Microsoft YaHei"/>
              </a:rPr>
              <a:t>随访评分变化</a:t>
            </a:r>
          </a:p>
        </p:txBody>
      </p:sp>
      <p:sp>
        <p:nvSpPr>
          <p:cNvPr id="4" name="trend--subtitle"/>
          <p:cNvSpPr txBox="1"/>
          <p:nvPr/>
        </p:nvSpPr>
        <p:spPr>
          <a:xfrm>
            <a:off x="621792" y="1371600"/>
            <a:ext cx="10927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6D72"/>
                </a:solidFill>
                <a:latin typeface="Microsoft YaHei"/>
                <a:ea typeface="Microsoft YaHei"/>
              </a:rPr>
              <a:t>原生折线图；缺失值保留断点</a:t>
            </a:r>
          </a:p>
        </p:txBody>
      </p:sp>
      <p:graphicFrame>
        <p:nvGraphicFramePr>
          <p:cNvPr id="5" name="trend--chart"/>
          <p:cNvGraphicFramePr>
            <a:graphicFrameLocks noGrp="1"/>
          </p:cNvGraphicFramePr>
          <p:nvPr/>
        </p:nvGraphicFramePr>
        <p:xfrm>
          <a:off x="777240" y="1938528"/>
          <a:ext cx="10652760" cy="37673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rend--takeaway"/>
          <p:cNvSpPr txBox="1"/>
          <p:nvPr/>
        </p:nvSpPr>
        <p:spPr>
          <a:xfrm>
            <a:off x="777240" y="5806440"/>
            <a:ext cx="1065276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6D72"/>
                </a:solidFill>
                <a:latin typeface="Microsoft YaHei"/>
                <a:ea typeface="Microsoft YaHei"/>
              </a:rPr>
              <a:t>本页仅演示数据呈现；评分下降不能单独证明治疗因果关系。</a:t>
            </a:r>
          </a:p>
        </p:txBody>
      </p:sp>
      <p:sp>
        <p:nvSpPr>
          <p:cNvPr id="7" name="trend--footer"/>
          <p:cNvSpPr txBox="1"/>
          <p:nvPr/>
        </p:nvSpPr>
        <p:spPr>
          <a:xfrm>
            <a:off x="621792" y="6455664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A4058"/>
                </a:solidFill>
                <a:latin typeface="Microsoft YaHei"/>
                <a:ea typeface="Microsoft YaHei"/>
              </a:rPr>
              <a:t>演示数据 / 非临床证据</a:t>
            </a:r>
          </a:p>
        </p:txBody>
      </p:sp>
      <p:sp>
        <p:nvSpPr>
          <p:cNvPr id="8" name="trend--sources"/>
          <p:cNvSpPr txBox="1"/>
          <p:nvPr/>
        </p:nvSpPr>
        <p:spPr>
          <a:xfrm>
            <a:off x="7315200" y="6455664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26D72"/>
                </a:solidFill>
                <a:latin typeface="Microsoft YaHei"/>
                <a:ea typeface="Microsoft YaHei"/>
              </a:rPr>
              <a:t>DEMO</a:t>
            </a:r>
          </a:p>
        </p:txBody>
      </p:sp>
      <p:sp>
        <p:nvSpPr>
          <p:cNvPr id="9" name="trend--page"/>
          <p:cNvSpPr txBox="1"/>
          <p:nvPr/>
        </p:nvSpPr>
        <p:spPr>
          <a:xfrm>
            <a:off x="10881360" y="6437376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26D72"/>
                </a:solidFill>
                <a:latin typeface="Microsoft YaHei"/>
                <a:ea typeface="Microsoft YaHei"/>
              </a:rP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discuss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scussion--accent"/>
          <p:cNvSpPr/>
          <p:nvPr/>
        </p:nvSpPr>
        <p:spPr>
          <a:xfrm>
            <a:off x="594360" y="384048"/>
            <a:ext cx="594360" cy="54864"/>
          </a:xfrm>
          <a:prstGeom prst="rect">
            <a:avLst/>
          </a:prstGeom>
          <a:solidFill>
            <a:srgbClr val="087E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scussion--title"/>
          <p:cNvSpPr txBox="1"/>
          <p:nvPr/>
        </p:nvSpPr>
        <p:spPr>
          <a:xfrm>
            <a:off x="594360" y="621792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0282A"/>
                </a:solidFill>
                <a:latin typeface="Microsoft YaHei"/>
                <a:ea typeface="Microsoft YaHei"/>
              </a:rPr>
              <a:t>讨论与资料局限</a:t>
            </a:r>
          </a:p>
        </p:txBody>
      </p:sp>
      <p:sp>
        <p:nvSpPr>
          <p:cNvPr id="4" name="discussion--subtitle"/>
          <p:cNvSpPr txBox="1"/>
          <p:nvPr/>
        </p:nvSpPr>
        <p:spPr>
          <a:xfrm>
            <a:off x="621792" y="1371600"/>
            <a:ext cx="10927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6D72"/>
                </a:solidFill>
                <a:latin typeface="Microsoft YaHei"/>
                <a:ea typeface="Microsoft YaHei"/>
              </a:rPr>
              <a:t>结论强度应与证据相匹配</a:t>
            </a:r>
          </a:p>
        </p:txBody>
      </p:sp>
      <p:sp>
        <p:nvSpPr>
          <p:cNvPr id="5" name="discussion--number-0"/>
          <p:cNvSpPr txBox="1"/>
          <p:nvPr/>
        </p:nvSpPr>
        <p:spPr>
          <a:xfrm>
            <a:off x="640080" y="1965960"/>
            <a:ext cx="475488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E8B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6" name="discussion--item-0"/>
          <p:cNvSpPr txBox="1"/>
          <p:nvPr/>
        </p:nvSpPr>
        <p:spPr>
          <a:xfrm>
            <a:off x="1280160" y="1938528"/>
            <a:ext cx="10058400" cy="971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0282A"/>
                </a:solidFill>
                <a:latin typeface="Microsoft YaHei"/>
                <a:ea typeface="Microsoft YaHei"/>
              </a:rPr>
              <a:t>先描述观察到的变化，再讨论可能解释</a:t>
            </a:r>
          </a:p>
        </p:txBody>
      </p:sp>
      <p:sp>
        <p:nvSpPr>
          <p:cNvPr id="7" name="discussion--number-1"/>
          <p:cNvSpPr txBox="1"/>
          <p:nvPr/>
        </p:nvSpPr>
        <p:spPr>
          <a:xfrm>
            <a:off x="640080" y="3028950"/>
            <a:ext cx="475488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E8B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8" name="discussion--item-1"/>
          <p:cNvSpPr txBox="1"/>
          <p:nvPr/>
        </p:nvSpPr>
        <p:spPr>
          <a:xfrm>
            <a:off x="1280160" y="3001518"/>
            <a:ext cx="10058400" cy="971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0282A"/>
                </a:solidFill>
                <a:latin typeface="Microsoft YaHei"/>
                <a:ea typeface="Microsoft YaHei"/>
              </a:rPr>
              <a:t>缺失数据、随访时长和测量方法需要说明</a:t>
            </a:r>
          </a:p>
        </p:txBody>
      </p:sp>
      <p:sp>
        <p:nvSpPr>
          <p:cNvPr id="9" name="discussion--number-2"/>
          <p:cNvSpPr txBox="1"/>
          <p:nvPr/>
        </p:nvSpPr>
        <p:spPr>
          <a:xfrm>
            <a:off x="640080" y="4091939"/>
            <a:ext cx="475488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E8B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0" name="discussion--item-2"/>
          <p:cNvSpPr txBox="1"/>
          <p:nvPr/>
        </p:nvSpPr>
        <p:spPr>
          <a:xfrm>
            <a:off x="1280160" y="4064508"/>
            <a:ext cx="10058400" cy="971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0282A"/>
                </a:solidFill>
                <a:latin typeface="Microsoft YaHei"/>
                <a:ea typeface="Microsoft YaHei"/>
              </a:rPr>
              <a:t>诊断、疗效和安全性结论应回到原始记录</a:t>
            </a:r>
          </a:p>
        </p:txBody>
      </p:sp>
      <p:sp>
        <p:nvSpPr>
          <p:cNvPr id="11" name="discussion--number-3"/>
          <p:cNvSpPr txBox="1"/>
          <p:nvPr/>
        </p:nvSpPr>
        <p:spPr>
          <a:xfrm>
            <a:off x="640080" y="5154930"/>
            <a:ext cx="475488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E8B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12" name="discussion--item-3"/>
          <p:cNvSpPr txBox="1"/>
          <p:nvPr/>
        </p:nvSpPr>
        <p:spPr>
          <a:xfrm>
            <a:off x="1280160" y="5127498"/>
            <a:ext cx="10058400" cy="971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0282A"/>
                </a:solidFill>
                <a:latin typeface="Microsoft YaHei"/>
                <a:ea typeface="Microsoft YaHei"/>
              </a:rPr>
              <a:t>文献引述需要核对原文及对应结果</a:t>
            </a:r>
          </a:p>
        </p:txBody>
      </p:sp>
      <p:sp>
        <p:nvSpPr>
          <p:cNvPr id="13" name="discussion--footer"/>
          <p:cNvSpPr txBox="1"/>
          <p:nvPr/>
        </p:nvSpPr>
        <p:spPr>
          <a:xfrm>
            <a:off x="621792" y="6455664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A4058"/>
                </a:solidFill>
                <a:latin typeface="Microsoft YaHei"/>
                <a:ea typeface="Microsoft YaHei"/>
              </a:rPr>
              <a:t>演示数据 / 非临床证据</a:t>
            </a:r>
          </a:p>
        </p:txBody>
      </p:sp>
      <p:sp>
        <p:nvSpPr>
          <p:cNvPr id="14" name="discussion--sources"/>
          <p:cNvSpPr txBox="1"/>
          <p:nvPr/>
        </p:nvSpPr>
        <p:spPr>
          <a:xfrm>
            <a:off x="7315200" y="6455664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26D72"/>
                </a:solidFill>
                <a:latin typeface="Microsoft YaHei"/>
                <a:ea typeface="Microsoft YaHei"/>
              </a:rPr>
              <a:t>DEMO</a:t>
            </a:r>
          </a:p>
        </p:txBody>
      </p:sp>
      <p:sp>
        <p:nvSpPr>
          <p:cNvPr id="15" name="discussion--page"/>
          <p:cNvSpPr txBox="1"/>
          <p:nvPr/>
        </p:nvSpPr>
        <p:spPr>
          <a:xfrm>
            <a:off x="10881360" y="6437376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26D72"/>
                </a:solidFill>
                <a:latin typeface="Microsoft YaHei"/>
                <a:ea typeface="Microsoft YaHei"/>
              </a:rP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eferenc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ferences--accent"/>
          <p:cNvSpPr/>
          <p:nvPr/>
        </p:nvSpPr>
        <p:spPr>
          <a:xfrm>
            <a:off x="594360" y="384048"/>
            <a:ext cx="594360" cy="54864"/>
          </a:xfrm>
          <a:prstGeom prst="rect">
            <a:avLst/>
          </a:prstGeom>
          <a:solidFill>
            <a:srgbClr val="087E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ferences--title"/>
          <p:cNvSpPr txBox="1"/>
          <p:nvPr/>
        </p:nvSpPr>
        <p:spPr>
          <a:xfrm>
            <a:off x="594360" y="621792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0282A"/>
                </a:solidFill>
                <a:latin typeface="Microsoft YaHei"/>
                <a:ea typeface="Microsoft YaHei"/>
              </a:rPr>
              <a:t>资料来源</a:t>
            </a:r>
          </a:p>
        </p:txBody>
      </p:sp>
      <p:sp>
        <p:nvSpPr>
          <p:cNvPr id="4" name="references--subtitle"/>
          <p:cNvSpPr txBox="1"/>
          <p:nvPr/>
        </p:nvSpPr>
        <p:spPr>
          <a:xfrm>
            <a:off x="621792" y="1371600"/>
            <a:ext cx="10927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26D72"/>
                </a:solidFill>
                <a:latin typeface="Microsoft YaHei"/>
                <a:ea typeface="Microsoft YaHei"/>
              </a:rPr>
              <a:t>演示数据声明</a:t>
            </a:r>
          </a:p>
        </p:txBody>
      </p:sp>
      <p:sp>
        <p:nvSpPr>
          <p:cNvPr id="5" name="references--number-0"/>
          <p:cNvSpPr txBox="1"/>
          <p:nvPr/>
        </p:nvSpPr>
        <p:spPr>
          <a:xfrm>
            <a:off x="640080" y="1965960"/>
            <a:ext cx="475488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E8B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6" name="references--item-0"/>
          <p:cNvSpPr txBox="1"/>
          <p:nvPr/>
        </p:nvSpPr>
        <p:spPr>
          <a:xfrm>
            <a:off x="1280160" y="1938528"/>
            <a:ext cx="10058400" cy="1325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0282A"/>
                </a:solidFill>
                <a:latin typeface="Microsoft YaHei"/>
                <a:ea typeface="Microsoft YaHei"/>
              </a:rPr>
              <a:t>DEMO：本样稿全部数值和病例叙述均为虚构</a:t>
            </a:r>
          </a:p>
        </p:txBody>
      </p:sp>
      <p:sp>
        <p:nvSpPr>
          <p:cNvPr id="7" name="references--number-1"/>
          <p:cNvSpPr txBox="1"/>
          <p:nvPr/>
        </p:nvSpPr>
        <p:spPr>
          <a:xfrm>
            <a:off x="640080" y="3383280"/>
            <a:ext cx="475488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E8B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8" name="references--item-1"/>
          <p:cNvSpPr txBox="1"/>
          <p:nvPr/>
        </p:nvSpPr>
        <p:spPr>
          <a:xfrm>
            <a:off x="1280160" y="3355848"/>
            <a:ext cx="10058400" cy="1325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0282A"/>
                </a:solidFill>
                <a:latin typeface="Microsoft YaHei"/>
                <a:ea typeface="Microsoft YaHei"/>
              </a:rPr>
              <a:t>不包含真实患者资料，也不引用虚构论文</a:t>
            </a:r>
          </a:p>
        </p:txBody>
      </p:sp>
      <p:sp>
        <p:nvSpPr>
          <p:cNvPr id="9" name="references--number-2"/>
          <p:cNvSpPr txBox="1"/>
          <p:nvPr/>
        </p:nvSpPr>
        <p:spPr>
          <a:xfrm>
            <a:off x="640080" y="4800600"/>
            <a:ext cx="475488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E8B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0" name="references--item-2"/>
          <p:cNvSpPr txBox="1"/>
          <p:nvPr/>
        </p:nvSpPr>
        <p:spPr>
          <a:xfrm>
            <a:off x="1280160" y="4773168"/>
            <a:ext cx="10058400" cy="1325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0282A"/>
                </a:solidFill>
                <a:latin typeface="Microsoft YaHei"/>
                <a:ea typeface="Microsoft YaHei"/>
              </a:rPr>
              <a:t>真实汇报应补充原始记录与核实后的文献</a:t>
            </a:r>
          </a:p>
        </p:txBody>
      </p:sp>
      <p:sp>
        <p:nvSpPr>
          <p:cNvPr id="11" name="references--footer"/>
          <p:cNvSpPr txBox="1"/>
          <p:nvPr/>
        </p:nvSpPr>
        <p:spPr>
          <a:xfrm>
            <a:off x="621792" y="6455664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A4058"/>
                </a:solidFill>
                <a:latin typeface="Microsoft YaHei"/>
                <a:ea typeface="Microsoft YaHei"/>
              </a:rPr>
              <a:t>演示数据 / 非临床证据</a:t>
            </a:r>
          </a:p>
        </p:txBody>
      </p:sp>
      <p:sp>
        <p:nvSpPr>
          <p:cNvPr id="12" name="references--sources"/>
          <p:cNvSpPr txBox="1"/>
          <p:nvPr/>
        </p:nvSpPr>
        <p:spPr>
          <a:xfrm>
            <a:off x="7315200" y="6455664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26D72"/>
                </a:solidFill>
                <a:latin typeface="Microsoft YaHei"/>
                <a:ea typeface="Microsoft YaHei"/>
              </a:rPr>
              <a:t>DEMO</a:t>
            </a:r>
          </a:p>
        </p:txBody>
      </p:sp>
      <p:sp>
        <p:nvSpPr>
          <p:cNvPr id="13" name="references--page"/>
          <p:cNvSpPr txBox="1"/>
          <p:nvPr/>
        </p:nvSpPr>
        <p:spPr>
          <a:xfrm>
            <a:off x="10881360" y="6437376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26D72"/>
                </a:solidFill>
                <a:latin typeface="Microsoft YaHei"/>
                <a:ea typeface="Microsoft YaHei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病例讨论与随访评估</dc:title>
  <dc:subject>Synthetic demonstration</dc:subject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